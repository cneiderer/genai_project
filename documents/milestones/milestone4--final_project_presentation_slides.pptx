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bject Sans Bold" charset="1" panose="00000300000000000000"/>
      <p:regular r:id="rId18"/>
    </p:embeddedFont>
    <p:embeddedFont>
      <p:font typeface="Object Sans" charset="1" panose="000003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https://www.kaggle.com/datasets/adityajn105/flickr8k" TargetMode="External" Type="http://schemas.openxmlformats.org/officeDocument/2006/relationships/hyperlink"/><Relationship Id="rId6" Target="https://www.kaggle.com/datasets/awsaf49/flickr30k-dataset?select=Images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3015" y="6232197"/>
            <a:ext cx="13110424" cy="115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7"/>
              </a:lnSpc>
            </a:pPr>
            <a:r>
              <a:rPr lang="en-US" b="true" sz="10269" spc="-821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PRESENTATION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45866" y="4567177"/>
            <a:ext cx="18433866" cy="202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0"/>
              </a:lnSpc>
            </a:pPr>
            <a:r>
              <a:rPr lang="en-US" sz="18065" spc="-144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571802"/>
            <a:ext cx="1623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presented by group 7:  Curtis Neiderer, Divya Maheshkumar, Desiree Reid, Minal Ahir, Arundhati Ubhad 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04024"/>
            <a:ext cx="162306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VISION-TO-TEXT:​</a:t>
            </a:r>
          </a:p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AN IMAGE CAPTIONING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6449265" y="261648"/>
            <a:ext cx="1623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IE7374 -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763390"/>
            <a:ext cx="16230600" cy="2476550"/>
            <a:chOff x="0" y="0"/>
            <a:chExt cx="4544786" cy="693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86" cy="693467"/>
            </a:xfrm>
            <a:custGeom>
              <a:avLst/>
              <a:gdLst/>
              <a:ahLst/>
              <a:cxnLst/>
              <a:rect r="r" b="b" t="t" l="l"/>
              <a:pathLst>
                <a:path h="693467" w="4544786">
                  <a:moveTo>
                    <a:pt x="0" y="0"/>
                  </a:moveTo>
                  <a:lnTo>
                    <a:pt x="4544786" y="0"/>
                  </a:lnTo>
                  <a:lnTo>
                    <a:pt x="4544786" y="693467"/>
                  </a:lnTo>
                  <a:lnTo>
                    <a:pt x="0" y="693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544786" cy="722042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7841" y="4565115"/>
            <a:ext cx="16230600" cy="2487401"/>
            <a:chOff x="0" y="0"/>
            <a:chExt cx="4544786" cy="6965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4786" cy="696506"/>
            </a:xfrm>
            <a:custGeom>
              <a:avLst/>
              <a:gdLst/>
              <a:ahLst/>
              <a:cxnLst/>
              <a:rect r="r" b="b" t="t" l="l"/>
              <a:pathLst>
                <a:path h="696506" w="4544786">
                  <a:moveTo>
                    <a:pt x="0" y="0"/>
                  </a:moveTo>
                  <a:lnTo>
                    <a:pt x="4544786" y="0"/>
                  </a:lnTo>
                  <a:lnTo>
                    <a:pt x="4544786" y="696506"/>
                  </a:lnTo>
                  <a:lnTo>
                    <a:pt x="0" y="696506"/>
                  </a:lnTo>
                  <a:close/>
                </a:path>
              </a:pathLst>
            </a:custGeom>
            <a:solidFill>
              <a:srgbClr val="292B2D">
                <a:alpha val="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544786" cy="725081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575966"/>
            <a:ext cx="16230600" cy="2476550"/>
            <a:chOff x="0" y="0"/>
            <a:chExt cx="4544786" cy="693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44786" cy="693467"/>
            </a:xfrm>
            <a:custGeom>
              <a:avLst/>
              <a:gdLst/>
              <a:ahLst/>
              <a:cxnLst/>
              <a:rect r="r" b="b" t="t" l="l"/>
              <a:pathLst>
                <a:path h="693467" w="4544786">
                  <a:moveTo>
                    <a:pt x="0" y="0"/>
                  </a:moveTo>
                  <a:lnTo>
                    <a:pt x="4544786" y="0"/>
                  </a:lnTo>
                  <a:lnTo>
                    <a:pt x="4544786" y="693467"/>
                  </a:lnTo>
                  <a:lnTo>
                    <a:pt x="0" y="693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544786" cy="722042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7366841"/>
            <a:ext cx="16230600" cy="2476550"/>
            <a:chOff x="0" y="0"/>
            <a:chExt cx="4544786" cy="693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4786" cy="693467"/>
            </a:xfrm>
            <a:custGeom>
              <a:avLst/>
              <a:gdLst/>
              <a:ahLst/>
              <a:cxnLst/>
              <a:rect r="r" b="b" t="t" l="l"/>
              <a:pathLst>
                <a:path h="693467" w="4544786">
                  <a:moveTo>
                    <a:pt x="0" y="0"/>
                  </a:moveTo>
                  <a:lnTo>
                    <a:pt x="4544786" y="0"/>
                  </a:lnTo>
                  <a:lnTo>
                    <a:pt x="4544786" y="693467"/>
                  </a:lnTo>
                  <a:lnTo>
                    <a:pt x="0" y="693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544786" cy="722042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74279" y="8050260"/>
            <a:ext cx="15578977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Build an image captioning system using CNN + LSTM​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Evaluate and compare traditional metrics (BLEU, METEOR) vs. embedding-based metrics (BERTScore)​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Analyze model behavior (hallucinations, failure modes, etc.)​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Test generalization on out-of-domain datasets (Flickr30k)​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64754" y="2585123"/>
            <a:ext cx="416541" cy="416541"/>
          </a:xfrm>
          <a:custGeom>
            <a:avLst/>
            <a:gdLst/>
            <a:ahLst/>
            <a:cxnLst/>
            <a:rect r="r" b="b" t="t" l="l"/>
            <a:pathLst>
              <a:path h="416541" w="416541">
                <a:moveTo>
                  <a:pt x="0" y="0"/>
                </a:moveTo>
                <a:lnTo>
                  <a:pt x="416542" y="0"/>
                </a:lnTo>
                <a:lnTo>
                  <a:pt x="416542" y="416542"/>
                </a:lnTo>
                <a:lnTo>
                  <a:pt x="0" y="416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4279" y="2528726"/>
            <a:ext cx="15777723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Image Captioning is the task of automatically generating a descriptive sentence that summarizes the contents of an image. It involves two key components:​ Computer Vision (CV): to analyze and understand the visual elements in the image (objects, actions, scenes, etc.)​ and Natural Language Processing (NLP): to generate coherent and contextually appropriate textual descriptions based on that visual understanding​.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64754" y="1885036"/>
            <a:ext cx="7019078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what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4754" y="4704554"/>
            <a:ext cx="7019078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why 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4754" y="5252584"/>
            <a:ext cx="15787248" cy="201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5693" indent="-207847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Makes images accessible to everyone (E.g., Helps the visually impaired understand images throughspoken or written descriptions.)​</a:t>
            </a:r>
          </a:p>
          <a:p>
            <a:pPr algn="l" marL="415693" indent="-207847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Helps apps find and sort images easily (like Google Photos or Instagram tagging)​</a:t>
            </a:r>
          </a:p>
          <a:p>
            <a:pPr algn="l" marL="415693" indent="-207847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Let's AI describe and talk about pictures​</a:t>
            </a:r>
          </a:p>
          <a:p>
            <a:pPr algn="l" marL="415693" indent="-207847" lvl="1">
              <a:lnSpc>
                <a:spcPts val="2695"/>
              </a:lnSpc>
              <a:buFont typeface="Arial"/>
              <a:buChar char="•"/>
            </a:pPr>
            <a:r>
              <a:rPr lang="en-US" sz="192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Supports smart assistants, robots, and automation</a:t>
            </a:r>
          </a:p>
          <a:p>
            <a:pPr algn="l">
              <a:lnSpc>
                <a:spcPts val="269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64754" y="7502573"/>
            <a:ext cx="7019078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how 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Introduction &amp; Project Objectives </a:t>
            </a:r>
          </a:p>
        </p:txBody>
      </p:sp>
    </p:spTree>
  </p:cSld>
  <p:clrMapOvr>
    <a:masterClrMapping/>
  </p:clrMapOvr>
  <p:transition spd="slow">
    <p:circl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0984" y="1571126"/>
            <a:ext cx="8115187" cy="3486907"/>
          </a:xfrm>
          <a:custGeom>
            <a:avLst/>
            <a:gdLst/>
            <a:ahLst/>
            <a:cxnLst/>
            <a:rect r="r" b="b" t="t" l="l"/>
            <a:pathLst>
              <a:path h="3486907" w="8115187">
                <a:moveTo>
                  <a:pt x="0" y="0"/>
                </a:moveTo>
                <a:lnTo>
                  <a:pt x="8115186" y="0"/>
                </a:lnTo>
                <a:lnTo>
                  <a:pt x="8115186" y="3486907"/>
                </a:lnTo>
                <a:lnTo>
                  <a:pt x="0" y="3486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8" t="-1733" r="0" b="-89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60382" y="1571126"/>
            <a:ext cx="8074474" cy="3486907"/>
          </a:xfrm>
          <a:custGeom>
            <a:avLst/>
            <a:gdLst/>
            <a:ahLst/>
            <a:cxnLst/>
            <a:rect r="r" b="b" t="t" l="l"/>
            <a:pathLst>
              <a:path h="3486907" w="8074474">
                <a:moveTo>
                  <a:pt x="0" y="0"/>
                </a:moveTo>
                <a:lnTo>
                  <a:pt x="8074474" y="0"/>
                </a:lnTo>
                <a:lnTo>
                  <a:pt x="8074474" y="3486907"/>
                </a:lnTo>
                <a:lnTo>
                  <a:pt x="0" y="3486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05" r="-2571" b="-2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2844" y="6247448"/>
            <a:ext cx="10905624" cy="3517844"/>
          </a:xfrm>
          <a:custGeom>
            <a:avLst/>
            <a:gdLst/>
            <a:ahLst/>
            <a:cxnLst/>
            <a:rect r="r" b="b" t="t" l="l"/>
            <a:pathLst>
              <a:path h="3517844" w="10905624">
                <a:moveTo>
                  <a:pt x="0" y="0"/>
                </a:moveTo>
                <a:lnTo>
                  <a:pt x="10905624" y="0"/>
                </a:lnTo>
                <a:lnTo>
                  <a:pt x="10905624" y="3517843"/>
                </a:lnTo>
                <a:lnTo>
                  <a:pt x="0" y="3517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76" r="0" b="-347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1353" y="5247958"/>
            <a:ext cx="625465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  <a:hlinkClick r:id="rId5" tooltip="https://www.kaggle.com/datasets/adityajn105/flickr8k"/>
              </a:rPr>
              <a:t>https://www.kaggle.com/datasets/adityajn105/flickr8k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81328" y="5247958"/>
            <a:ext cx="795217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u="sng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  <a:hlinkClick r:id="rId6" tooltip="https://www.kaggle.com/datasets/awsaf49/flickr30k-dataset?select=Images"/>
              </a:rPr>
              <a:t>https://www.kaggle.com/datasets/awsaf49/flickr30k-dataset?select=Images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7550" y="62294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Dataset Insights</a:t>
            </a:r>
          </a:p>
        </p:txBody>
      </p:sp>
    </p:spTree>
  </p:cSld>
  <p:clrMapOvr>
    <a:masterClrMapping/>
  </p:clrMapOvr>
  <p:transition spd="slow">
    <p:circl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3273" y="2194060"/>
            <a:ext cx="16546729" cy="2495455"/>
          </a:xfrm>
          <a:custGeom>
            <a:avLst/>
            <a:gdLst/>
            <a:ahLst/>
            <a:cxnLst/>
            <a:rect r="r" b="b" t="t" l="l"/>
            <a:pathLst>
              <a:path h="2495455" w="16546729">
                <a:moveTo>
                  <a:pt x="0" y="0"/>
                </a:moveTo>
                <a:lnTo>
                  <a:pt x="16546729" y="0"/>
                </a:lnTo>
                <a:lnTo>
                  <a:pt x="16546729" y="2495455"/>
                </a:lnTo>
                <a:lnTo>
                  <a:pt x="0" y="2495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3" r="0" b="-97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Approach: CNN-LSTM Model Architecture​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2571" y="6043177"/>
            <a:ext cx="4879539" cy="2067570"/>
            <a:chOff x="0" y="0"/>
            <a:chExt cx="1366336" cy="5789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6336" cy="578947"/>
            </a:xfrm>
            <a:custGeom>
              <a:avLst/>
              <a:gdLst/>
              <a:ahLst/>
              <a:cxnLst/>
              <a:rect r="r" b="b" t="t" l="l"/>
              <a:pathLst>
                <a:path h="578947" w="1366336">
                  <a:moveTo>
                    <a:pt x="0" y="0"/>
                  </a:moveTo>
                  <a:lnTo>
                    <a:pt x="1366336" y="0"/>
                  </a:lnTo>
                  <a:lnTo>
                    <a:pt x="1366336" y="578947"/>
                  </a:lnTo>
                  <a:lnTo>
                    <a:pt x="0" y="578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66336" cy="617047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l">
                <a:lnSpc>
                  <a:spcPts val="2519"/>
                </a:lnSpc>
              </a:pP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Pretrained on ImageNet</a:t>
              </a: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Used to extract high-level image features</a:t>
              </a: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Output: fixed-length feature vector</a:t>
              </a:r>
            </a:p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92845" y="6043177"/>
            <a:ext cx="5567585" cy="2067570"/>
            <a:chOff x="0" y="0"/>
            <a:chExt cx="1558999" cy="5789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8999" cy="578947"/>
            </a:xfrm>
            <a:custGeom>
              <a:avLst/>
              <a:gdLst/>
              <a:ahLst/>
              <a:cxnLst/>
              <a:rect r="r" b="b" t="t" l="l"/>
              <a:pathLst>
                <a:path h="578947" w="1558999">
                  <a:moveTo>
                    <a:pt x="0" y="0"/>
                  </a:moveTo>
                  <a:lnTo>
                    <a:pt x="1558999" y="0"/>
                  </a:lnTo>
                  <a:lnTo>
                    <a:pt x="1558999" y="578947"/>
                  </a:lnTo>
                  <a:lnTo>
                    <a:pt x="0" y="578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58999" cy="617047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l">
                <a:lnSpc>
                  <a:spcPts val="2519"/>
                </a:lnSpc>
              </a:pP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R</a:t>
              </a: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eceives encoded image vector as input</a:t>
              </a: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Generates caption word-by-word (sequence modeling)</a:t>
              </a: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Trained on caption tokens with teacher forcing</a:t>
              </a:r>
            </a:p>
            <a:p>
              <a:pPr algn="l">
                <a:lnSpc>
                  <a:spcPts val="2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79761" y="6043177"/>
            <a:ext cx="4879539" cy="2067570"/>
            <a:chOff x="0" y="0"/>
            <a:chExt cx="1366336" cy="5789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336" cy="578947"/>
            </a:xfrm>
            <a:custGeom>
              <a:avLst/>
              <a:gdLst/>
              <a:ahLst/>
              <a:cxnLst/>
              <a:rect r="r" b="b" t="t" l="l"/>
              <a:pathLst>
                <a:path h="578947" w="1366336">
                  <a:moveTo>
                    <a:pt x="0" y="0"/>
                  </a:moveTo>
                  <a:lnTo>
                    <a:pt x="1366336" y="0"/>
                  </a:lnTo>
                  <a:lnTo>
                    <a:pt x="1366336" y="578947"/>
                  </a:lnTo>
                  <a:lnTo>
                    <a:pt x="0" y="578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66336" cy="617047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Loss Func</a:t>
              </a: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tion: Categorical Cross-Entropy</a:t>
              </a: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Optimizer: Adam</a:t>
              </a: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Epochs: 20–50 (with early stopping)</a:t>
              </a:r>
            </a:p>
            <a:p>
              <a:pPr algn="l" marL="388618" indent="-194309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53">
                  <a:solidFill>
                    <a:srgbClr val="292B2D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Batch Size: 64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86391" y="5535375"/>
            <a:ext cx="3931898" cy="32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spc="-125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Encoder (ResNet-50 CNN)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28400" y="5535375"/>
            <a:ext cx="2496475" cy="32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spc="-125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Decoder (LSTM)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71293" y="5535375"/>
            <a:ext cx="2496475" cy="32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spc="-125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Technical Specs</a:t>
            </a:r>
          </a:p>
        </p:txBody>
      </p:sp>
    </p:spTree>
  </p:cSld>
  <p:clrMapOvr>
    <a:masterClrMapping/>
  </p:clrMapOvr>
  <p:transition spd="slow">
    <p:circl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3667" y="3535090"/>
            <a:ext cx="7591831" cy="5058057"/>
          </a:xfrm>
          <a:custGeom>
            <a:avLst/>
            <a:gdLst/>
            <a:ahLst/>
            <a:cxnLst/>
            <a:rect r="r" b="b" t="t" l="l"/>
            <a:pathLst>
              <a:path h="5058057" w="7591831">
                <a:moveTo>
                  <a:pt x="0" y="0"/>
                </a:moveTo>
                <a:lnTo>
                  <a:pt x="7591831" y="0"/>
                </a:lnTo>
                <a:lnTo>
                  <a:pt x="7591831" y="5058057"/>
                </a:lnTo>
                <a:lnTo>
                  <a:pt x="0" y="5058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Decoding Strategies – Greedy vs. Beam Search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9165" y="3468415"/>
            <a:ext cx="8867696" cy="472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85"/>
              </a:lnSpc>
              <a:spcBef>
                <a:spcPct val="0"/>
              </a:spcBef>
            </a:pPr>
            <a:r>
              <a:rPr lang="en-US" b="true" sz="2989" spc="-8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Greedy Search</a:t>
            </a:r>
          </a:p>
          <a:p>
            <a:pPr algn="l" marL="645513" indent="-322757" lvl="1">
              <a:lnSpc>
                <a:spcPts val="4185"/>
              </a:lnSpc>
              <a:buFont typeface="Arial"/>
              <a:buChar char="•"/>
            </a:pPr>
            <a:r>
              <a:rPr lang="en-US" sz="2989" spc="-8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Selects the most likely word at each step</a:t>
            </a:r>
          </a:p>
          <a:p>
            <a:pPr algn="l" marL="645513" indent="-322757" lvl="1">
              <a:lnSpc>
                <a:spcPts val="4185"/>
              </a:lnSpc>
              <a:buFont typeface="Arial"/>
              <a:buChar char="•"/>
            </a:pPr>
            <a:r>
              <a:rPr lang="en-US" sz="2989" spc="-8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Fast but prone to generic or suboptimal outputs</a:t>
            </a:r>
          </a:p>
          <a:p>
            <a:pPr algn="l" marL="645513" indent="-322757" lvl="1">
              <a:lnSpc>
                <a:spcPts val="4185"/>
              </a:lnSpc>
              <a:buFont typeface="Arial"/>
              <a:buChar char="•"/>
            </a:pPr>
            <a:r>
              <a:rPr lang="en-US" sz="2989" spc="-8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Single path, no lookahead</a:t>
            </a:r>
          </a:p>
          <a:p>
            <a:pPr algn="just">
              <a:lnSpc>
                <a:spcPts val="4185"/>
              </a:lnSpc>
              <a:spcBef>
                <a:spcPct val="0"/>
              </a:spcBef>
            </a:pPr>
          </a:p>
          <a:p>
            <a:pPr algn="just">
              <a:lnSpc>
                <a:spcPts val="4185"/>
              </a:lnSpc>
              <a:spcBef>
                <a:spcPct val="0"/>
              </a:spcBef>
            </a:pPr>
            <a:r>
              <a:rPr lang="en-US" b="true" sz="2989" spc="-8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Beam Search (k = 5)</a:t>
            </a:r>
          </a:p>
          <a:p>
            <a:pPr algn="just" marL="645513" indent="-322757" lvl="1">
              <a:lnSpc>
                <a:spcPts val="4185"/>
              </a:lnSpc>
              <a:buFont typeface="Arial"/>
              <a:buChar char="•"/>
            </a:pPr>
            <a:r>
              <a:rPr lang="en-US" sz="2989" spc="-8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Keeps top-k sequences at each step</a:t>
            </a:r>
          </a:p>
          <a:p>
            <a:pPr algn="just" marL="645513" indent="-322757" lvl="1">
              <a:lnSpc>
                <a:spcPts val="4185"/>
              </a:lnSpc>
              <a:buFont typeface="Arial"/>
              <a:buChar char="•"/>
            </a:pPr>
            <a:r>
              <a:rPr lang="en-US" sz="2989" spc="-8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Balances fluency and diversity</a:t>
            </a:r>
          </a:p>
          <a:p>
            <a:pPr algn="just" marL="645513" indent="-322757" lvl="1">
              <a:lnSpc>
                <a:spcPts val="4185"/>
              </a:lnSpc>
              <a:buFont typeface="Arial"/>
              <a:buChar char="•"/>
            </a:pPr>
            <a:r>
              <a:rPr lang="en-US" sz="2989" spc="-8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Slightly slower, better results</a:t>
            </a:r>
          </a:p>
        </p:txBody>
      </p:sp>
    </p:spTree>
  </p:cSld>
  <p:clrMapOvr>
    <a:masterClrMapping/>
  </p:clrMapOvr>
  <p:transition spd="slow">
    <p:circl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94108" y="2135187"/>
            <a:ext cx="9500060" cy="3256226"/>
          </a:xfrm>
          <a:custGeom>
            <a:avLst/>
            <a:gdLst/>
            <a:ahLst/>
            <a:cxnLst/>
            <a:rect r="r" b="b" t="t" l="l"/>
            <a:pathLst>
              <a:path h="3256226" w="9500060">
                <a:moveTo>
                  <a:pt x="0" y="0"/>
                </a:moveTo>
                <a:lnTo>
                  <a:pt x="9500059" y="0"/>
                </a:lnTo>
                <a:lnTo>
                  <a:pt x="9500059" y="3256226"/>
                </a:lnTo>
                <a:lnTo>
                  <a:pt x="0" y="32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1" t="-14989" r="-1377" b="-69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94108" y="5533036"/>
            <a:ext cx="5792230" cy="4356240"/>
          </a:xfrm>
          <a:custGeom>
            <a:avLst/>
            <a:gdLst/>
            <a:ahLst/>
            <a:cxnLst/>
            <a:rect r="r" b="b" t="t" l="l"/>
            <a:pathLst>
              <a:path h="4356240" w="5792230">
                <a:moveTo>
                  <a:pt x="0" y="0"/>
                </a:moveTo>
                <a:lnTo>
                  <a:pt x="5792230" y="0"/>
                </a:lnTo>
                <a:lnTo>
                  <a:pt x="5792230" y="4356240"/>
                </a:lnTo>
                <a:lnTo>
                  <a:pt x="0" y="4356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Experiment 1 : Baseline Training and Evaluation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5791" y="2465366"/>
            <a:ext cx="6503824" cy="679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  <a:spcBef>
                <a:spcPct val="0"/>
              </a:spcBef>
            </a:pPr>
            <a:r>
              <a:rPr lang="en-US" b="true" sz="3435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Findings:</a:t>
            </a:r>
          </a:p>
          <a:p>
            <a:pPr algn="l" marL="741813" indent="-370907" lvl="1">
              <a:lnSpc>
                <a:spcPts val="4123"/>
              </a:lnSpc>
              <a:buFont typeface="Arial"/>
              <a:buChar char="•"/>
            </a:pPr>
            <a:r>
              <a:rPr lang="en-US" sz="34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Learned decoding (Greedy/Beam) significantly outperforms baselines</a:t>
            </a:r>
          </a:p>
          <a:p>
            <a:pPr algn="l" marL="741813" indent="-370907" lvl="1">
              <a:lnSpc>
                <a:spcPts val="4123"/>
              </a:lnSpc>
              <a:buFont typeface="Arial"/>
              <a:buChar char="•"/>
            </a:pPr>
            <a:r>
              <a:rPr lang="en-US" sz="34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Beam Search offers consistent, albeit small, improvements over Greedy</a:t>
            </a:r>
          </a:p>
          <a:p>
            <a:pPr algn="l" marL="741813" indent="-370907" lvl="1">
              <a:lnSpc>
                <a:spcPts val="4123"/>
              </a:lnSpc>
              <a:buFont typeface="Arial"/>
              <a:buChar char="•"/>
            </a:pPr>
            <a:r>
              <a:rPr lang="en-US" sz="343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Frequency-based captions can deceptively perform well on BERTScore, but don't reflect true quality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66243" y="5610893"/>
            <a:ext cx="3358263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b="true" sz="3099" u="sng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Figure</a:t>
            </a:r>
          </a:p>
          <a:p>
            <a:pPr algn="ctr">
              <a:lnSpc>
                <a:spcPts val="3719"/>
              </a:lnSpc>
            </a:pPr>
          </a:p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</a:t>
            </a: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reedy: a man is riding a bike on a dirt path</a:t>
            </a:r>
          </a:p>
          <a:p>
            <a:pPr algn="ctr">
              <a:lnSpc>
                <a:spcPts val="3719"/>
              </a:lnSpc>
              <a:spcBef>
                <a:spcPct val="0"/>
              </a:spcBef>
            </a:pPr>
          </a:p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Beam: a person is riding a dirt bike in the woods</a:t>
            </a:r>
          </a:p>
        </p:txBody>
      </p:sp>
    </p:spTree>
  </p:cSld>
  <p:clrMapOvr>
    <a:masterClrMapping/>
  </p:clrMapOvr>
  <p:transition spd="slow">
    <p:circl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46604"/>
            <a:ext cx="3593242" cy="6911696"/>
            <a:chOff x="0" y="0"/>
            <a:chExt cx="1006156" cy="19353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156" cy="1935368"/>
            </a:xfrm>
            <a:custGeom>
              <a:avLst/>
              <a:gdLst/>
              <a:ahLst/>
              <a:cxnLst/>
              <a:rect r="r" b="b" t="t" l="l"/>
              <a:pathLst>
                <a:path h="1935368" w="1006156">
                  <a:moveTo>
                    <a:pt x="0" y="0"/>
                  </a:moveTo>
                  <a:lnTo>
                    <a:pt x="1006156" y="0"/>
                  </a:lnTo>
                  <a:lnTo>
                    <a:pt x="1006156" y="1935368"/>
                  </a:lnTo>
                  <a:lnTo>
                    <a:pt x="0" y="1935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06156" cy="1963943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21017" y="2346604"/>
            <a:ext cx="3593242" cy="6911696"/>
            <a:chOff x="0" y="0"/>
            <a:chExt cx="1006156" cy="19353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6156" cy="1935368"/>
            </a:xfrm>
            <a:custGeom>
              <a:avLst/>
              <a:gdLst/>
              <a:ahLst/>
              <a:cxnLst/>
              <a:rect r="r" b="b" t="t" l="l"/>
              <a:pathLst>
                <a:path h="1935368" w="1006156">
                  <a:moveTo>
                    <a:pt x="0" y="0"/>
                  </a:moveTo>
                  <a:lnTo>
                    <a:pt x="1006156" y="0"/>
                  </a:lnTo>
                  <a:lnTo>
                    <a:pt x="1006156" y="1935368"/>
                  </a:lnTo>
                  <a:lnTo>
                    <a:pt x="0" y="1935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06156" cy="1963943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14334" y="2346604"/>
            <a:ext cx="3593242" cy="6911696"/>
            <a:chOff x="0" y="0"/>
            <a:chExt cx="1006156" cy="1935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156" cy="1935368"/>
            </a:xfrm>
            <a:custGeom>
              <a:avLst/>
              <a:gdLst/>
              <a:ahLst/>
              <a:cxnLst/>
              <a:rect r="r" b="b" t="t" l="l"/>
              <a:pathLst>
                <a:path h="1935368" w="1006156">
                  <a:moveTo>
                    <a:pt x="0" y="0"/>
                  </a:moveTo>
                  <a:lnTo>
                    <a:pt x="1006156" y="0"/>
                  </a:lnTo>
                  <a:lnTo>
                    <a:pt x="1006156" y="1935368"/>
                  </a:lnTo>
                  <a:lnTo>
                    <a:pt x="0" y="1935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06156" cy="1963943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07651" y="2346604"/>
            <a:ext cx="3593242" cy="6911696"/>
            <a:chOff x="0" y="0"/>
            <a:chExt cx="1006156" cy="1935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156" cy="1935368"/>
            </a:xfrm>
            <a:custGeom>
              <a:avLst/>
              <a:gdLst/>
              <a:ahLst/>
              <a:cxnLst/>
              <a:rect r="r" b="b" t="t" l="l"/>
              <a:pathLst>
                <a:path h="1935368" w="1006156">
                  <a:moveTo>
                    <a:pt x="0" y="0"/>
                  </a:moveTo>
                  <a:lnTo>
                    <a:pt x="1006156" y="0"/>
                  </a:lnTo>
                  <a:lnTo>
                    <a:pt x="1006156" y="1935368"/>
                  </a:lnTo>
                  <a:lnTo>
                    <a:pt x="0" y="1935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06156" cy="1963943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66693" y="2586018"/>
            <a:ext cx="2717256" cy="3755651"/>
          </a:xfrm>
          <a:custGeom>
            <a:avLst/>
            <a:gdLst/>
            <a:ahLst/>
            <a:cxnLst/>
            <a:rect r="r" b="b" t="t" l="l"/>
            <a:pathLst>
              <a:path h="3755651" w="2717256">
                <a:moveTo>
                  <a:pt x="0" y="0"/>
                </a:moveTo>
                <a:lnTo>
                  <a:pt x="2717256" y="0"/>
                </a:lnTo>
                <a:lnTo>
                  <a:pt x="2717256" y="3755650"/>
                </a:lnTo>
                <a:lnTo>
                  <a:pt x="0" y="375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5" t="0" r="-1185" b="-325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596532" y="2586018"/>
            <a:ext cx="2795520" cy="3755651"/>
          </a:xfrm>
          <a:custGeom>
            <a:avLst/>
            <a:gdLst/>
            <a:ahLst/>
            <a:cxnLst/>
            <a:rect r="r" b="b" t="t" l="l"/>
            <a:pathLst>
              <a:path h="3755651" w="2795520">
                <a:moveTo>
                  <a:pt x="0" y="0"/>
                </a:moveTo>
                <a:lnTo>
                  <a:pt x="2795520" y="0"/>
                </a:lnTo>
                <a:lnTo>
                  <a:pt x="2795520" y="3755650"/>
                </a:lnTo>
                <a:lnTo>
                  <a:pt x="0" y="375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80" t="-973" r="-6542" b="-3718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913175" y="2586018"/>
            <a:ext cx="2982192" cy="3755651"/>
          </a:xfrm>
          <a:custGeom>
            <a:avLst/>
            <a:gdLst/>
            <a:ahLst/>
            <a:cxnLst/>
            <a:rect r="r" b="b" t="t" l="l"/>
            <a:pathLst>
              <a:path h="3755651" w="2982192">
                <a:moveTo>
                  <a:pt x="0" y="0"/>
                </a:moveTo>
                <a:lnTo>
                  <a:pt x="2982193" y="0"/>
                </a:lnTo>
                <a:lnTo>
                  <a:pt x="2982193" y="3755650"/>
                </a:lnTo>
                <a:lnTo>
                  <a:pt x="0" y="3755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093" t="0" r="-55953" b="-1775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42934" y="2586018"/>
            <a:ext cx="2999919" cy="3688976"/>
          </a:xfrm>
          <a:custGeom>
            <a:avLst/>
            <a:gdLst/>
            <a:ahLst/>
            <a:cxnLst/>
            <a:rect r="r" b="b" t="t" l="l"/>
            <a:pathLst>
              <a:path h="3688976" w="2999919">
                <a:moveTo>
                  <a:pt x="0" y="0"/>
                </a:moveTo>
                <a:lnTo>
                  <a:pt x="2999919" y="0"/>
                </a:lnTo>
                <a:lnTo>
                  <a:pt x="2999919" y="3688975"/>
                </a:lnTo>
                <a:lnTo>
                  <a:pt x="0" y="3688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0" t="-46" r="-2283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45758" y="7081439"/>
            <a:ext cx="3159126" cy="184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Ground Truth: “a young girl in a pink swimsuit”​</a:t>
            </a:r>
          </a:p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Caption: “a man in a wetsuit is riding a dirt bike”​</a:t>
            </a:r>
          </a:p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→ Hallucinates subject identity, gender, and vehicle.​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6693" y="6427393"/>
            <a:ext cx="27172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Subject Hallucination (Greedy)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Experiment 2: Error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96532" y="6427393"/>
            <a:ext cx="27172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Action Misattribution (Beam)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52327" y="6427393"/>
            <a:ext cx="27172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Gender &amp; Clothing Inference (Beam)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45644" y="6427393"/>
            <a:ext cx="27172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Visual Detail Hallucination (Greedy)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31392" y="7081439"/>
            <a:ext cx="3159126" cy="184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Ground Truth: “a baby hold a wicker basket”​</a:t>
            </a:r>
          </a:p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Caption: “a little girl in a pink shirt is swinging on a swing”​</a:t>
            </a:r>
          </a:p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→ Incorrectly infers a common childhood activity.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51848" y="7110014"/>
            <a:ext cx="3143336" cy="191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"/>
              </a:lnSpc>
            </a:pPr>
            <a:r>
              <a:rPr lang="en-US" sz="136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Ground Truth: “a beige and dark brown dog plays in the swimming pool with his mouth open”​</a:t>
            </a:r>
          </a:p>
          <a:p>
            <a:pPr algn="l">
              <a:lnSpc>
                <a:spcPts val="1917"/>
              </a:lnSpc>
            </a:pPr>
            <a:r>
              <a:rPr lang="en-US" sz="136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Caption: “a little girl in a pink dress is swinging on a swing”​</a:t>
            </a:r>
          </a:p>
          <a:p>
            <a:pPr algn="l">
              <a:lnSpc>
                <a:spcPts val="1917"/>
              </a:lnSpc>
            </a:pPr>
            <a:r>
              <a:rPr lang="en-US" sz="136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→ Hallucinates not only subject type (dog → girl), but also gender, clothing, and action.​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24708" y="7081439"/>
            <a:ext cx="3159126" cy="184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Ground Truth: “a dog running through the sand”​</a:t>
            </a:r>
          </a:p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Caption: “a dog is running through the water”​</a:t>
            </a:r>
          </a:p>
          <a:p>
            <a:pPr algn="l">
              <a:lnSpc>
                <a:spcPts val="2430"/>
              </a:lnSpc>
            </a:pPr>
            <a:r>
              <a:rPr lang="en-US" sz="1736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→ Misrepresents the scene context entirely.</a:t>
            </a:r>
          </a:p>
        </p:txBody>
      </p:sp>
    </p:spTree>
  </p:cSld>
  <p:clrMapOvr>
    <a:masterClrMapping/>
  </p:clrMapOvr>
  <p:transition spd="slow">
    <p:circl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44028" y="1875966"/>
            <a:ext cx="4532741" cy="3971815"/>
          </a:xfrm>
          <a:custGeom>
            <a:avLst/>
            <a:gdLst/>
            <a:ahLst/>
            <a:cxnLst/>
            <a:rect r="r" b="b" t="t" l="l"/>
            <a:pathLst>
              <a:path h="3971815" w="4532741">
                <a:moveTo>
                  <a:pt x="0" y="0"/>
                </a:moveTo>
                <a:lnTo>
                  <a:pt x="4532741" y="0"/>
                </a:lnTo>
                <a:lnTo>
                  <a:pt x="4532741" y="3971815"/>
                </a:lnTo>
                <a:lnTo>
                  <a:pt x="0" y="3971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44028" y="6050985"/>
            <a:ext cx="4532741" cy="3979606"/>
          </a:xfrm>
          <a:custGeom>
            <a:avLst/>
            <a:gdLst/>
            <a:ahLst/>
            <a:cxnLst/>
            <a:rect r="r" b="b" t="t" l="l"/>
            <a:pathLst>
              <a:path h="3979606" w="4532741">
                <a:moveTo>
                  <a:pt x="0" y="0"/>
                </a:moveTo>
                <a:lnTo>
                  <a:pt x="4532741" y="0"/>
                </a:lnTo>
                <a:lnTo>
                  <a:pt x="4532741" y="3979605"/>
                </a:lnTo>
                <a:lnTo>
                  <a:pt x="0" y="3979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7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Experiment 3: Semantic Fidelity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3425" y="2404553"/>
            <a:ext cx="8694039" cy="641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810" indent="-280905" lvl="1">
              <a:lnSpc>
                <a:spcPts val="3643"/>
              </a:lnSpc>
              <a:buFont typeface="Arial"/>
              <a:buChar char="•"/>
            </a:pPr>
            <a:r>
              <a:rPr lang="en-US" b="true" sz="2602" spc="-78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Findings:​</a:t>
            </a:r>
          </a:p>
          <a:p>
            <a:pPr algn="l" marL="1123620" indent="-374540" lvl="2">
              <a:lnSpc>
                <a:spcPts val="3643"/>
              </a:lnSpc>
              <a:spcBef>
                <a:spcPct val="0"/>
              </a:spcBef>
              <a:buFont typeface="Arial"/>
              <a:buChar char="⚬"/>
            </a:pPr>
            <a:r>
              <a:rPr lang="en-US" sz="2602" spc="-7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Human j</a:t>
            </a:r>
            <a:r>
              <a:rPr lang="en-US" sz="2602" spc="-7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udgments highly consistent (good for reliability)​</a:t>
            </a:r>
          </a:p>
          <a:p>
            <a:pPr algn="l" marL="1123620" indent="-374540" lvl="2">
              <a:lnSpc>
                <a:spcPts val="3643"/>
              </a:lnSpc>
              <a:spcBef>
                <a:spcPct val="0"/>
              </a:spcBef>
              <a:buFont typeface="Arial"/>
              <a:buChar char="⚬"/>
            </a:pPr>
            <a:r>
              <a:rPr lang="en-US" sz="2602" spc="-7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Traditional Metrics (BLEU, METEOR):Weak/negligible correlation (e.g., 0.10 - 0.28) with human perception of quality ​</a:t>
            </a:r>
          </a:p>
          <a:p>
            <a:pPr algn="l" marL="1123620" indent="-374540" lvl="2">
              <a:lnSpc>
                <a:spcPts val="3643"/>
              </a:lnSpc>
              <a:spcBef>
                <a:spcPct val="0"/>
              </a:spcBef>
              <a:buFont typeface="Arial"/>
              <a:buChar char="⚬"/>
            </a:pPr>
            <a:r>
              <a:rPr lang="en-US" sz="2602" spc="-7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Embedding-Based Metrics (BERTScore):Moderate/stronger correlation (e.g., 0.35 -0.46) with human judgment (better alignment)​</a:t>
            </a:r>
          </a:p>
          <a:p>
            <a:pPr algn="l">
              <a:lnSpc>
                <a:spcPts val="3643"/>
              </a:lnSpc>
              <a:spcBef>
                <a:spcPct val="0"/>
              </a:spcBef>
            </a:pPr>
          </a:p>
          <a:p>
            <a:pPr algn="l" marL="561810" indent="-280905" lvl="1">
              <a:lnSpc>
                <a:spcPts val="364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2" spc="-78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Key Insight: </a:t>
            </a:r>
            <a:r>
              <a:rPr lang="en-US" sz="2602" spc="-7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BERTScore is significantly better at capturing semantic fidelity from a human perspective​</a:t>
            </a:r>
          </a:p>
          <a:p>
            <a:pPr algn="l">
              <a:lnSpc>
                <a:spcPts val="364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ircl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Experiment 4: Generalization​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5379" y="2288145"/>
            <a:ext cx="7900578" cy="623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537" indent="-255268" lvl="1">
              <a:lnSpc>
                <a:spcPts val="3310"/>
              </a:lnSpc>
              <a:buFont typeface="Arial"/>
              <a:buChar char="•"/>
            </a:pPr>
            <a:r>
              <a:rPr lang="en-US" b="true" sz="2364" spc="-70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Findings:​</a:t>
            </a:r>
          </a:p>
          <a:p>
            <a:pPr algn="l" marL="1021073" indent="-340358" lvl="2">
              <a:lnSpc>
                <a:spcPts val="3310"/>
              </a:lnSpc>
              <a:spcBef>
                <a:spcPct val="0"/>
              </a:spcBef>
              <a:buFont typeface="Arial"/>
              <a:buChar char="⚬"/>
            </a:pP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Signific</a:t>
            </a: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ant </a:t>
            </a: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drop in BLEU scores on Flickr30k compared to Flickr8k​</a:t>
            </a:r>
          </a:p>
          <a:p>
            <a:pPr algn="l" marL="1021073" indent="-340358" lvl="2">
              <a:lnSpc>
                <a:spcPts val="3310"/>
              </a:lnSpc>
              <a:spcBef>
                <a:spcPct val="0"/>
              </a:spcBef>
              <a:buFont typeface="Arial"/>
              <a:buChar char="⚬"/>
            </a:pP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BERTScore remains stable, demonstrating its robustness across different domains​</a:t>
            </a:r>
          </a:p>
          <a:p>
            <a:pPr algn="l" marL="510537" indent="-255268" lvl="1">
              <a:lnSpc>
                <a:spcPts val="33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4" spc="-70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Interpretation: </a:t>
            </a: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Performance drop is likely due to Flickr30k's​ :</a:t>
            </a:r>
          </a:p>
          <a:p>
            <a:pPr algn="l" marL="1021073" indent="-340358" lvl="2">
              <a:lnSpc>
                <a:spcPts val="3310"/>
              </a:lnSpc>
              <a:spcBef>
                <a:spcPct val="0"/>
              </a:spcBef>
              <a:buFont typeface="Arial"/>
              <a:buChar char="⚬"/>
            </a:pP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Larg</a:t>
            </a: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er image diversity and broader contexts​</a:t>
            </a:r>
          </a:p>
          <a:p>
            <a:pPr algn="l" marL="1021073" indent="-340358" lvl="2">
              <a:lnSpc>
                <a:spcPts val="3310"/>
              </a:lnSpc>
              <a:spcBef>
                <a:spcPct val="0"/>
              </a:spcBef>
              <a:buFont typeface="Arial"/>
              <a:buChar char="⚬"/>
            </a:pP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Vocabulary mismatch and higher number of out-of-vocabulary words​</a:t>
            </a:r>
          </a:p>
          <a:p>
            <a:pPr algn="l" marL="1021073" indent="-340358" lvl="2">
              <a:lnSpc>
                <a:spcPts val="3310"/>
              </a:lnSpc>
              <a:spcBef>
                <a:spcPct val="0"/>
              </a:spcBef>
              <a:buFont typeface="Arial"/>
              <a:buChar char="⚬"/>
            </a:pP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More varied caption lengths and richer scene descriptions​</a:t>
            </a:r>
          </a:p>
          <a:p>
            <a:pPr algn="l" marL="1021073" indent="-340358" lvl="2">
              <a:lnSpc>
                <a:spcPts val="3310"/>
              </a:lnSpc>
              <a:spcBef>
                <a:spcPct val="0"/>
              </a:spcBef>
              <a:buFont typeface="Arial"/>
              <a:buChar char="⚬"/>
            </a:pP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Annotation</a:t>
            </a:r>
            <a:r>
              <a:rPr lang="en-US" sz="2364" spc="-7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inconsistencies (fewer than 5 captions for some images)​</a:t>
            </a:r>
          </a:p>
          <a:p>
            <a:pPr algn="l">
              <a:lnSpc>
                <a:spcPts val="331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987502" y="3062297"/>
            <a:ext cx="8141627" cy="4162407"/>
          </a:xfrm>
          <a:custGeom>
            <a:avLst/>
            <a:gdLst/>
            <a:ahLst/>
            <a:cxnLst/>
            <a:rect r="r" b="b" t="t" l="l"/>
            <a:pathLst>
              <a:path h="4162407" w="8141627">
                <a:moveTo>
                  <a:pt x="0" y="0"/>
                </a:moveTo>
                <a:lnTo>
                  <a:pt x="8141627" y="0"/>
                </a:lnTo>
                <a:lnTo>
                  <a:pt x="8141627" y="4162406"/>
                </a:lnTo>
                <a:lnTo>
                  <a:pt x="0" y="416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ircl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Conclusion &amp; Key Takeaways​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18179"/>
            <a:ext cx="15413374" cy="503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CNN-LSTM model architecture is effective, but prone to hallucinations and omissions.​</a:t>
            </a:r>
          </a:p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BERTScore provides more accurate insights into semantic fidelity than traditional metrics (BLEU/METEOR), in terms of human correlation​.</a:t>
            </a:r>
          </a:p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Beam Search offers slight improvements over Greedy.​</a:t>
            </a:r>
          </a:p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Generalization remains a challenge for current model setup.​</a:t>
            </a:r>
          </a:p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Training Data Quality significantly impacts output, limited, or noisy datasets often lead to flawed caption generation.​</a:t>
            </a:r>
          </a:p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Multimodal alignment between visual and textual components remains an open challenge, especially in complex scenes requiring contextual understanding.</a:t>
            </a:r>
          </a:p>
        </p:txBody>
      </p:sp>
    </p:spTree>
  </p:cSld>
  <p:clrMapOvr>
    <a:masterClrMapping/>
  </p:clrMapOvr>
  <p:transition spd="slow">
    <p:circl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6691" y="939477"/>
            <a:ext cx="131929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66946"/>
            <a:ext cx="15413374" cy="4528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</a:t>
            </a: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ine-tuning for improved generalization across diverse datasets​</a:t>
            </a:r>
          </a:p>
          <a:p>
            <a:pPr algn="l">
              <a:lnSpc>
                <a:spcPts val="3988"/>
              </a:lnSpc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​</a:t>
            </a:r>
          </a:p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Incorporating Attention mechanisms for better accuracy/relevancy​</a:t>
            </a:r>
          </a:p>
          <a:p>
            <a:pPr algn="l">
              <a:lnSpc>
                <a:spcPts val="3988"/>
              </a:lnSpc>
            </a:pPr>
          </a:p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Leveraging pre-trained word embeddings for semantically rich vector representations (GloVe)​</a:t>
            </a:r>
          </a:p>
          <a:p>
            <a:pPr algn="l">
              <a:lnSpc>
                <a:spcPts val="3988"/>
              </a:lnSpc>
            </a:pPr>
          </a:p>
          <a:p>
            <a:pPr algn="l" marL="615040" indent="-307520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Exploring other embedding-based metrics (CLIPScore)</a:t>
            </a:r>
          </a:p>
          <a:p>
            <a:pPr algn="l">
              <a:lnSpc>
                <a:spcPts val="3988"/>
              </a:lnSpc>
            </a:pPr>
          </a:p>
        </p:txBody>
      </p:sp>
    </p:spTree>
  </p:cSld>
  <p:clrMapOvr>
    <a:masterClrMapping/>
  </p:clrMapOvr>
  <p:transition spd="slow">
    <p:circl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3015" y="6232197"/>
            <a:ext cx="13110424" cy="115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7"/>
              </a:lnSpc>
            </a:pPr>
            <a:r>
              <a:rPr lang="en-US" b="true" sz="10269" spc="-821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3229" y="4756414"/>
            <a:ext cx="16779012" cy="183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1"/>
              </a:lnSpc>
            </a:pPr>
            <a:r>
              <a:rPr lang="en-US" sz="16443" spc="-1315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THANK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6449265" y="261648"/>
            <a:ext cx="16230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IE7374 - Generative AI</a:t>
            </a:r>
          </a:p>
        </p:txBody>
      </p:sp>
    </p:spTree>
  </p:cSld>
  <p:clrMapOvr>
    <a:masterClrMapping/>
  </p:clrMapOvr>
  <p:transition spd="slow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DAGu-BmhwIw</dc:identifier>
  <dcterms:modified xsi:type="dcterms:W3CDTF">2011-08-01T06:04:30Z</dcterms:modified>
  <cp:revision>1</cp:revision>
  <dc:title>project</dc:title>
</cp:coreProperties>
</file>